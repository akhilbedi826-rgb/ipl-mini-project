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658368"/>
            <a:ext cx="164592" cy="164592"/>
          </a:xfrm>
          <a:prstGeom prst="ellipse">
            <a:avLst/>
          </a:prstGeom>
          <a:solidFill>
            <a:srgbClr val="F2B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6692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2B147"/>
                </a:solidFill>
                <a:latin typeface="Calibri"/>
              </a:rPr>
              <a:t>A DATA-DRIVEN STUDY OF 12 IPL SEASONS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15568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600" b="1" i="0" dirty="0">
                <a:solidFill>
                  <a:srgbClr val="FFFFFF"/>
                </a:solidFill>
                <a:latin typeface="Calibri"/>
              </a:rPr>
              <a:t>IPL Mini-Project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Analysing how toss, scoring trends and venue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decide outcomes across IPL 2008 – 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C9D3E6"/>
                </a:solidFill>
                <a:latin typeface="Calibri"/>
              </a:rPr>
              <a:t>Pandas  ·  NumPy  ·  Matplotlib  ·  Seaborn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756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852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MATCHES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7091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179,078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2852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DELIVERIES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7091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2852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SEASONS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3E6"/>
                </a:solidFill>
                <a:latin typeface="Calibri"/>
              </a:rPr>
              <a:t>Mini Project  |  Dataset: IPL Complete (Kaggle)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11155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C9D3E6"/>
                </a:solidFill>
                <a:latin typeface="Calibri"/>
              </a:rPr>
              <a:t>Prepared by: </a:t>
            </a:r>
            <a:r>
              <a:rPr lang="en-IN" sz="1200" dirty="0">
                <a:solidFill>
                  <a:srgbClr val="C9D3E6"/>
                </a:solidFill>
                <a:latin typeface="Calibri"/>
              </a:rPr>
              <a:t>Akhil Bedi</a:t>
            </a:r>
            <a:r>
              <a:rPr sz="1200" b="0" i="0" dirty="0">
                <a:solidFill>
                  <a:srgbClr val="C9D3E6"/>
                </a:solidFill>
                <a:latin typeface="Calibri"/>
              </a:rPr>
              <a:t>   |   Course: </a:t>
            </a:r>
            <a:r>
              <a:rPr sz="1200" b="0" i="0" dirty="0" err="1">
                <a:solidFill>
                  <a:srgbClr val="C9D3E6"/>
                </a:solidFill>
                <a:latin typeface="Calibri"/>
              </a:rPr>
              <a:t>B.Tech</a:t>
            </a:r>
            <a:r>
              <a:rPr sz="1200" b="0" i="0" dirty="0">
                <a:solidFill>
                  <a:srgbClr val="C9D3E6"/>
                </a:solidFill>
                <a:latin typeface="Calibri"/>
              </a:rPr>
              <a:t> CSE — Data Science   |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What this analysis sets out to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91639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22B5C"/>
                </a:solidFill>
                <a:latin typeface="Calibri"/>
              </a:rPr>
              <a:t>Understand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39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Explore 756 matches and 179K deliveries across 12 IPL seasons to map scoring, dismissals and team form into one analysable picture.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39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22B5C"/>
                </a:solidFill>
                <a:latin typeface="Calibri"/>
              </a:rPr>
              <a:t>Engineer the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39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Clean missing fields, derive over-phase, boundary flags and season integers so every later question can be answered with one groupby.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206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22B5C"/>
                </a:solidFill>
                <a:latin typeface="Calibri"/>
              </a:rPr>
              <a:t>Test the Toss 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Statistically check whether choosing to field first really converts into more wins, or whether it is only folklore from commentators.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02336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22B5C"/>
                </a:solidFill>
                <a:latin typeface="Calibri"/>
              </a:rPr>
              <a:t>Translate Into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Convert the strongest pattern into ONE concrete recommendation a coach or analyst could actually use on match 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Two CSVs from Kaggle — match-level metadata joined with ball-by-ball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66160" cy="1463040"/>
          </a:xfrm>
          <a:prstGeom prst="roundRect">
            <a:avLst>
              <a:gd name="adj" fmla="val 7000"/>
            </a:avLst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6733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MATCHES PLAYED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947672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756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877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9D3E6"/>
                </a:solidFill>
                <a:latin typeface="Calibri"/>
              </a:rPr>
              <a:t>12 IPL seasons, 2008–2019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3566160" cy="1463040"/>
          </a:xfrm>
          <a:prstGeom prst="roundRect">
            <a:avLst>
              <a:gd name="adj" fmla="val 7000"/>
            </a:avLst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227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BALLS BOWLED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502152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179,078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1422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Every legal &amp; extra delivery captured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3566160" cy="1463040"/>
          </a:xfrm>
          <a:prstGeom prst="roundRect">
            <a:avLst>
              <a:gd name="adj" fmla="val 7000"/>
            </a:avLst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78231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JOINED 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056632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69671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9D3E6"/>
                </a:solidFill>
                <a:latin typeface="Calibri"/>
              </a:rPr>
              <a:t>After merging matches + deliveries on match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508760"/>
            <a:ext cx="7178040" cy="45720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169164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SOURCE &amp;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103120"/>
            <a:ext cx="67665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matches.csv — one row per match: teams, toss, venue, winner, MoM.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deliveries.csv — one row per ball: batsman, bowler, runs, wicket info.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Merged on match id → 179,078 enriched rows for ball-level questions.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Spans 2008–2019: pre-COVID, pre-Impact-Player era — a clean baseline.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463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WHY THIS DATASET WORKS WELL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21208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It pairs match outcomes with ball-by-ball detail — letting us move past 'who won' into measurable cause-and-effect questions like toss impact, scoring inflation and home advantage.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A  / 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Cleaning — Handling Missing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Every blank was a decision, not a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0972800" cy="9601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city  (matches.csv)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Only 7 rows missing. Imputed from venue via a one-to-one map; remaining fallback set to 'Unknown' so no match is silently dropped.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39"/>
            <a:ext cx="10972800" cy="9601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24911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player_of_match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Blank for abandoned / tied games. Filled with 'No Award' so those matches still contribute to toss and venue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972800" cy="9601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dismissal_kind  (deliveries.csv)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NaN simply means the batter wasn't dismissed on that ball. Re-labelled as 'not out' so groupby on dismissal types behaves correctly.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00600"/>
            <a:ext cx="10972800" cy="9601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1947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umpire3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637 missing — third umpire is often unrecorded. Left as NaN: not used downstream, and dropping rows would distort match 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A  / 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New columns that turn raw rows into answerable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0972800" cy="749808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7335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total_runs_calc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batsman_runs + extra_runs — true runs conceded per ball.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77439"/>
            <a:ext cx="10972800" cy="749808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42031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is_boundary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60319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Flag for 4s and 6s, enabling boundary-rate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10972800" cy="749808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1071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over_phase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290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Powerplay (1–6)  |  Middle (7–15)  |  Death (16–20).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10972800" cy="749808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2793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year,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2976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Parsed from match date — powers all seasonal trends.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83479"/>
            <a:ext cx="10972800" cy="749808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148071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season (int)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166359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Strings like '2007/08' normalised to 2007 for sorting.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A677A"/>
                </a:solidFill>
                <a:latin typeface="Calibri"/>
              </a:rPr>
              <a:t>These five derivations unlock every downstream question — scoring trend, boundary share, death-over volatility — without further joins.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A  / 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Aggregations &amp; Summary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What a few well-chosen groupby calls reveal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486400" cy="246888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TOP 5 BATSMEN  ·  TOTAL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50292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V Kohli — 5,434 runs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SK Raina — 5,415 runs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RG Sharma — 4,914 runs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DA Warner — 4,741 runs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S Dhawan — 4,632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03520" cy="246888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BEST ECONOMY  ·  ≥ 500 LEGAL BALLS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A Kumble — econ 6.58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M Muralitharan — econ 6.70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Rashid Khan — econ 6.73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SP Narine — econ 6.75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94560"/>
                </a:solidFill>
                <a:latin typeface="Calibri"/>
              </a:rPr>
              <a:t>•  </a:t>
            </a:r>
            <a:r>
              <a:rPr sz="1400">
                <a:solidFill>
                  <a:srgbClr val="1A1F2C"/>
                </a:solidFill>
                <a:latin typeface="Calibri"/>
              </a:rPr>
              <a:t>DL Vettori — econ 6.78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TOP TEAM BY WIN %  ·  PER SEASON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47141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Rajasthan Royals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0176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81.2%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443484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447141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70916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Delhi Daredevils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00176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66.7%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43484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0" y="447141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70916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Mumbai Indians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00176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68.8%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43484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447141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70916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Chennai Super Kings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00176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68.8%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43484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79" y="447141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0999" y="470916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Kolkata Knight Riders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00176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70.6%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443484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84080" y="4471416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70916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Mumbai Indians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500176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68.4%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394959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431535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669279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Kings XI Punjab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61887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70.6%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0" y="5394959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68880" y="5431535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669279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Mumbai Indians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961887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62.5%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5394959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97680" y="5431535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669279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Sunrisers Hyderabad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5961887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64.7%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0" y="5394959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480" y="5431535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669279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Mumbai Indians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5961887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70.6%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55279" y="5394959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5431535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0999" y="5669279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Chennai Super Kings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5961887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68.8%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84080" y="5394959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5431535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E94560"/>
                </a:solidFill>
                <a:latin typeface="Calibri"/>
              </a:rPr>
              <a:t>2019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5669279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A1F2C"/>
                </a:solidFill>
                <a:latin typeface="Calibri"/>
              </a:rPr>
              <a:t>Mumbai Indians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5961887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2B5C"/>
                </a:solidFill>
                <a:latin typeface="Calibri"/>
              </a:rPr>
              <a:t>68.8%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B  /  INSIGHT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Does Winning the Toss Actually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Comparing field-first vs bat-first outcomes across 756 matches</a:t>
            </a:r>
          </a:p>
        </p:txBody>
      </p:sp>
      <p:pic>
        <p:nvPicPr>
          <p:cNvPr id="8" name="Picture 7" descr="05_toss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4008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554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STRONGEST EDGE FOUND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65960"/>
            <a:ext cx="4389120" cy="1691640"/>
          </a:xfrm>
          <a:prstGeom prst="roundRect">
            <a:avLst>
              <a:gd name="adj" fmla="val 7000"/>
            </a:avLst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21305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FIELD-FIRST WIN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2404872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55.9%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3044952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9D3E6"/>
                </a:solidFill>
                <a:latin typeface="Calibri"/>
              </a:rPr>
              <a:t>vs. 45.7% when teams choose to bat first — a ~10-point swing.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40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WHY IT 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206240"/>
            <a:ext cx="4389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Chasing converts the target into a clear ball-by-ball plan, dew on evening pitches makes the ball skid on, and the second-innings surface usually plays slightly better than the first. The pattern is consistent across nearly every season after 2013.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B  /  INSIGHT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Toss Decisions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How captains' field-first preference grew season after season</a:t>
            </a:r>
          </a:p>
        </p:txBody>
      </p:sp>
      <p:pic>
        <p:nvPicPr>
          <p:cNvPr id="8" name="Picture 7" descr="05b_toss_by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1005840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5A677A"/>
                </a:solidFill>
                <a:latin typeface="Calibri"/>
              </a:rPr>
              <a:t>Before 2013 captains split roughly 50/50. After 2013, field-first becomes the default — confirming the trend is behavioural learning, not random variance.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B  /  INSIGHT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 Run-Scorers of the IPL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Who consistently put runs on the board across 12 seasons</a:t>
            </a:r>
          </a:p>
        </p:txBody>
      </p:sp>
      <p:pic>
        <p:nvPicPr>
          <p:cNvPr id="8" name="Picture 7" descr="06_top10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7512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5544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THE ELITE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965960"/>
            <a:ext cx="4114800" cy="1691640"/>
          </a:xfrm>
          <a:prstGeom prst="roundRect">
            <a:avLst>
              <a:gd name="adj" fmla="val 7000"/>
            </a:avLst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0688" y="21305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V KOHLI — TOTAL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04872"/>
            <a:ext cx="3749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5,434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3044952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9D3E6"/>
                </a:solidFill>
                <a:latin typeface="Calibri"/>
              </a:rPr>
              <a:t>Leads the chart; top 10 sit between 4.2K and 5.4K — a tight group.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8404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WHAT IT MEANS FOR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206240"/>
            <a:ext cx="4206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Almost every top-10 batter is a top-order specialist who exploits the powerplay. Teams should protect in-form openers in the order, and bowlers must plan dismissals for them inside the first six overs before they settle.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B  /  INSIGHT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Dismissal Patterns — Top 3 Scorers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How elite batters get out, and what bowlers can learn from it</a:t>
            </a:r>
          </a:p>
        </p:txBody>
      </p:sp>
      <p:pic>
        <p:nvPicPr>
          <p:cNvPr id="8" name="Picture 7" descr="06b_top3_dismiss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67512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5544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ONE DISMISSAL DOMINATES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92024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'Caught' is overwhelmingly the most common dismissal for Kohli, Raina and Sharma — usually on aerial shots in the middle overs.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9718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BOWLER PLAYBOOK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337560"/>
            <a:ext cx="42062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Set deep boundary riders 30/45 to bait the slog.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Attack stumps early — 'bowled' is the #2 mode.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Yorker / full-length in death to deny the swing.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Avoid short into the slot for set right-handers.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B  /  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Has Scoring Increased Over the Years?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Average runs per match, season by season</a:t>
            </a:r>
          </a:p>
        </p:txBody>
      </p:sp>
      <p:pic>
        <p:nvPicPr>
          <p:cNvPr id="8" name="Picture 7" descr="07_avg_run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8580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5544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THE LEAGUE IS GETTING HOTTER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965960"/>
            <a:ext cx="3931920" cy="1691640"/>
          </a:xfrm>
          <a:prstGeom prst="roundRect">
            <a:avLst>
              <a:gd name="adj" fmla="val 7000"/>
            </a:avLst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213055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AVERAGE UPLIFT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404872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+3.6  runs / season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304495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9D3E6"/>
                </a:solidFill>
                <a:latin typeface="Calibri"/>
              </a:rPr>
              <a:t>Linear regression on per-season mean confirms a steady rise.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8404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THE STORY IN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206240"/>
            <a:ext cx="40233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2008 opened at ~309 runs / match. By 2018 the league peaked near 345, settling around 338 in 2019. The IPL is measurably more high-scoring today — flatter pitches, deeper batting line-ups and shorter boundaries all compound year after year.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B  /  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Trend Confirmed — Linear Regression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A simple regression removes the year-to-year noise</a:t>
            </a:r>
          </a:p>
        </p:txBody>
      </p:sp>
      <p:pic>
        <p:nvPicPr>
          <p:cNvPr id="8" name="Picture 7" descr="07b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08760"/>
            <a:ext cx="941832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5A677A"/>
                </a:solidFill>
                <a:latin typeface="Calibri"/>
              </a:rPr>
              <a:t>The fitted slope of +3.6 runs per season is small per year but compounds into ~40 extra runs per match across the decade — a meaningful shift for both batting plans and bowling expectations.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B  /  INSIGHT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Venue Analysis — The Home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Win-rate of home teams across the most-used IPL venues</a:t>
            </a:r>
          </a:p>
        </p:txBody>
      </p:sp>
      <p:pic>
        <p:nvPicPr>
          <p:cNvPr id="8" name="Picture 7" descr="08_venu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68096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5544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WHERE HOME MATTERS MOST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65960"/>
            <a:ext cx="33832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Chinnaswamy → strongest RCB tilt.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Wankhede → reliable MI fortress.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94560"/>
                </a:solidFill>
                <a:latin typeface="Calibri"/>
              </a:rPr>
              <a:t>•  </a:t>
            </a:r>
            <a:r>
              <a:rPr sz="1300">
                <a:solidFill>
                  <a:srgbClr val="1A1F2C"/>
                </a:solidFill>
                <a:latin typeface="Calibri"/>
              </a:rPr>
              <a:t>Chepauk → CSK's spin stronghold.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0233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389120"/>
            <a:ext cx="33832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F2C"/>
                </a:solidFill>
                <a:latin typeface="Calibri"/>
              </a:rPr>
              <a:t>Home venues aren't decorative — they shift win probability by 5–15 points. Factor each franchise's home conditions into auction picks (e.g. spinners for Chepauk, finishers for Wankhede).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B  /  INSIGHT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Death-Over Performance (Overs 16–20)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Who keeps their head when the ball flies at the death</a:t>
            </a:r>
          </a:p>
        </p:txBody>
      </p:sp>
      <p:pic>
        <p:nvPicPr>
          <p:cNvPr id="8" name="Picture 7" descr="09_death_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13232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691640"/>
            <a:ext cx="3749039" cy="2011680"/>
          </a:xfrm>
          <a:prstGeom prst="roundRect">
            <a:avLst>
              <a:gd name="adj" fmla="val 7000"/>
            </a:avLst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56447" y="1856232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MOST CONSISTENT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7" y="2130552"/>
            <a:ext cx="33832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7" y="2770632"/>
            <a:ext cx="33832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9D3E6"/>
                </a:solidFill>
                <a:latin typeface="Calibri"/>
              </a:rPr>
              <a:t>Median 10 runs/over · std 5.14 — the calmest death-over unit in the league.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886200"/>
            <a:ext cx="3749039" cy="2011680"/>
          </a:xfrm>
          <a:prstGeom prst="roundRect">
            <a:avLst>
              <a:gd name="adj" fmla="val 7000"/>
            </a:avLst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7" y="4050792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MOST EXPLOSIVE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7" y="4325112"/>
            <a:ext cx="33832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RCB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7" y="4965192"/>
            <a:ext cx="33832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Mean 10.33 runs/over · std 5.57 — bigger ceiling, bigger swings.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C  / 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The single sentence that ties twelve seasons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972800" cy="2377440"/>
          </a:xfrm>
          <a:prstGeom prst="roundRect">
            <a:avLst>
              <a:gd name="adj" fmla="val 7000"/>
            </a:avLst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2B147"/>
                </a:solidFill>
                <a:latin typeface="Calibri"/>
              </a:rPr>
              <a:t>THE HEADLINE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04241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Winning the toss and choosing to FIELD first delivers a ~10-point win-percentage edge — the single most actionable pattern in 12 seasons of IPL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WHY WE'RE CONFIDENT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E94560"/>
                </a:solidFill>
                <a:latin typeface="Calibri"/>
              </a:rPr>
              <a:t>•  </a:t>
            </a:r>
            <a:r>
              <a:rPr sz="1500">
                <a:solidFill>
                  <a:srgbClr val="1A1F2C"/>
                </a:solidFill>
                <a:latin typeface="Calibri"/>
              </a:rPr>
              <a:t>Field-first wins 55.9% of matches versus 45.7% for bat-first across 756 games.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E94560"/>
                </a:solidFill>
                <a:latin typeface="Calibri"/>
              </a:rPr>
              <a:t>•  </a:t>
            </a:r>
            <a:r>
              <a:rPr sz="1500">
                <a:solidFill>
                  <a:srgbClr val="1A1F2C"/>
                </a:solidFill>
                <a:latin typeface="Calibri"/>
              </a:rPr>
              <a:t>The effect is reinforced by a measurable +3.6 runs / season scoring uplift.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E94560"/>
                </a:solidFill>
                <a:latin typeface="Calibri"/>
              </a:rPr>
              <a:t>•  </a:t>
            </a:r>
            <a:r>
              <a:rPr sz="1500">
                <a:solidFill>
                  <a:srgbClr val="1A1F2C"/>
                </a:solidFill>
                <a:latin typeface="Calibri"/>
              </a:rPr>
              <a:t>The pattern holds in nearly every season after 2013 and across most venues.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C  / 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Insights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Six findings — each tested, each ready to act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486400" cy="12801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09928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Field-first wins ~56% of matches vs ~46% for bat-first — the strongest edge in the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486400" cy="12801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85623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709928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IPL scoring is rising steadily at roughly +3.6 runs per season since 2008.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5486400" cy="12801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127248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Top 5 run-scorers — Kohli, Raina, Sharma, Warner, Dhawan — are all top-order specialists.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926080"/>
            <a:ext cx="5486400" cy="12801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46520" y="320040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27355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127248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Elite batters are dismissed mostly 'caught' — bowlers should plan for the aerial slog.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43400"/>
            <a:ext cx="5486400" cy="12801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60" y="461772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69087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544568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Home advantage is strongest at Chinnaswamy (RCB), Wankhede (MI) and Chepauk (CSK).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43400"/>
            <a:ext cx="5486400" cy="12801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46520" y="461772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69087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544568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CSK is the most consistent death-over team; RCB is the most explosive but volatile.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C  / 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One Recommendation for Team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Translating the strongest pattern into a match-day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972800" cy="2468880"/>
          </a:xfrm>
          <a:prstGeom prst="roundRect">
            <a:avLst>
              <a:gd name="adj" fmla="val 7000"/>
            </a:avLst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COACHING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0424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1">
                <a:solidFill>
                  <a:srgbClr val="FFFFFF"/>
                </a:solidFill>
                <a:latin typeface="Calibri"/>
              </a:rPr>
              <a:t>"On winning the toss at a high-scoring or dew-prone venue — Chinnaswamy, Wankhede or Uppal — elect to FIELD first."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WHY IT WORKS — AND WHEN TO BREAK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E94560"/>
                </a:solidFill>
                <a:latin typeface="Calibri"/>
              </a:rPr>
              <a:t>•  </a:t>
            </a:r>
            <a:r>
              <a:rPr sz="1500">
                <a:solidFill>
                  <a:srgbClr val="1A1F2C"/>
                </a:solidFill>
                <a:latin typeface="Calibri"/>
              </a:rPr>
              <a:t>A known target lets the chase pace itself; the bowling plan becomes ball-specific.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E94560"/>
                </a:solidFill>
                <a:latin typeface="Calibri"/>
              </a:rPr>
              <a:t>•  </a:t>
            </a:r>
            <a:r>
              <a:rPr sz="1500">
                <a:solidFill>
                  <a:srgbClr val="1A1F2C"/>
                </a:solidFill>
                <a:latin typeface="Calibri"/>
              </a:rPr>
              <a:t>Evening dew makes the ball harder to grip — second-innings spin becomes less hostile.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E94560"/>
                </a:solidFill>
                <a:latin typeface="Calibri"/>
              </a:rPr>
              <a:t>•  </a:t>
            </a:r>
            <a:r>
              <a:rPr sz="1500">
                <a:solidFill>
                  <a:srgbClr val="1A1F2C"/>
                </a:solidFill>
                <a:latin typeface="Calibri"/>
              </a:rPr>
              <a:t>Reverse the rule for spin-friendly, slow tracks (e.g. Chepauk) where chasing is harder.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2B147"/>
                </a:solidFill>
                <a:latin typeface="Calibri"/>
              </a:rPr>
              <a:t>PART C  / 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Self-Reflection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6"/>
                </a:solidFill>
                <a:latin typeface="Calibri"/>
              </a:rPr>
              <a:t>What this analysis can — and cannot — say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486400" cy="21945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22B5C"/>
                </a:solidFill>
                <a:latin typeface="Calibri"/>
              </a:rPr>
              <a:t>Window ends in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COVID seasons and the Impact-Player rule reshaped IPL after 2020 — our conclusions describe the pre-2020 league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486400" cy="21945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22B5C"/>
                </a:solidFill>
                <a:latin typeface="Calibri"/>
              </a:rPr>
              <a:t>No pitch / weather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We see WHO won and HOW MUCH was scored, but not the conditions. Dew and pitch wear are inferred, not measured.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486400" cy="21945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22B5C"/>
                </a:solidFill>
                <a:latin typeface="Calibri"/>
              </a:rPr>
              <a:t>No ball-tracking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Line, length and pace aren't in the dataset, so dismissal advice is directional rather than ball-by-ball prescriptive.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86200"/>
            <a:ext cx="5486400" cy="219456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22B5C"/>
                </a:solidFill>
                <a:latin typeface="Calibri"/>
              </a:rPr>
              <a:t>No player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2628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Salary, age and role aren't available — we can't link auction spend to on-field returns.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A677A"/>
                </a:solidFill>
                <a:latin typeface="Calibri"/>
              </a:rPr>
              <a:t>Next step: extend via Cricsheet to 2024, add ball-tracking, and build an over-by-over logistic win-probability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77A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43600" y="1828800"/>
            <a:ext cx="182880" cy="182880"/>
          </a:xfrm>
          <a:prstGeom prst="ellipse">
            <a:avLst/>
          </a:prstGeom>
          <a:solidFill>
            <a:srgbClr val="F2B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1155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1850</Words>
  <Application>Microsoft Office PowerPoint</Application>
  <PresentationFormat>Widescreen</PresentationFormat>
  <Paragraphs>246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 singh</cp:lastModifiedBy>
  <cp:revision>2</cp:revision>
  <dcterms:created xsi:type="dcterms:W3CDTF">2013-01-27T09:14:16Z</dcterms:created>
  <dcterms:modified xsi:type="dcterms:W3CDTF">2026-06-22T18:19:12Z</dcterms:modified>
  <cp:category/>
</cp:coreProperties>
</file>